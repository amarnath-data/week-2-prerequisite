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c83bd92ab6d4303" /><Relationship Type="http://schemas.openxmlformats.org/officeDocument/2006/relationships/extended-properties" Target="/docProps/app.xml" Id="R4422e190c83841ea" /><Relationship Type="http://schemas.openxmlformats.org/officeDocument/2006/relationships/officeDocument" Target="/ppt/presentation.xml" Id="Rc1b3624aaab146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4dc1cb0b0c14735"/>
  </p:sldMasterIdLst>
  <p:notesMasterIdLst>
    <p:notesMasterId xmlns:r="http://schemas.openxmlformats.org/officeDocument/2006/relationships" r:id="Re54816a62d6c4992"/>
  </p:notesMasterIdLst>
  <p:sldIdLst>
    <p:sldId xmlns:r="http://schemas.openxmlformats.org/officeDocument/2006/relationships" id="256" r:id="R18f5e075f9844a5a"/>
    <p:sldId xmlns:r="http://schemas.openxmlformats.org/officeDocument/2006/relationships" id="257" r:id="R8eb360698d434a27"/>
    <p:sldId xmlns:r="http://schemas.openxmlformats.org/officeDocument/2006/relationships" id="258" r:id="R66966ff362764b58"/>
    <p:sldId xmlns:r="http://schemas.openxmlformats.org/officeDocument/2006/relationships" id="259" r:id="R944f9974640445b1"/>
    <p:sldId xmlns:r="http://schemas.openxmlformats.org/officeDocument/2006/relationships" id="260" r:id="Rda25d162ea604bd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ce9673166114584" /><Relationship Type="http://schemas.openxmlformats.org/officeDocument/2006/relationships/slideMaster" Target="/ppt/slideMasters/slideMaster1.xml" Id="R14dc1cb0b0c14735" /><Relationship Type="http://schemas.openxmlformats.org/officeDocument/2006/relationships/notesMaster" Target="/ppt/notesMasters/notesMaster1.xml" Id="Re54816a62d6c4992" /><Relationship Type="http://schemas.openxmlformats.org/officeDocument/2006/relationships/presProps" Target="/ppt/presProps.xml" Id="Rab75c7ebdd3b4e7b" /><Relationship Type="http://schemas.openxmlformats.org/officeDocument/2006/relationships/tableStyles" Target="/ppt/tableStyles.xml" Id="R18e22103bb144169" /><Relationship Type="http://schemas.openxmlformats.org/officeDocument/2006/relationships/slide" Target="/ppt/slides/slide1.xml" Id="R18f5e075f9844a5a" /><Relationship Type="http://schemas.openxmlformats.org/officeDocument/2006/relationships/slide" Target="/ppt/slides/slide2.xml" Id="R8eb360698d434a27" /><Relationship Type="http://schemas.openxmlformats.org/officeDocument/2006/relationships/slide" Target="/ppt/slides/slide3.xml" Id="R66966ff362764b58" /><Relationship Type="http://schemas.openxmlformats.org/officeDocument/2006/relationships/slide" Target="/ppt/slides/slide4.xml" Id="R944f9974640445b1" /><Relationship Type="http://schemas.openxmlformats.org/officeDocument/2006/relationships/slide" Target="/ppt/slides/slide5.xml" Id="Rda25d162ea604bd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d2d6f5cf080490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46be1e4c350484e" /><Relationship Type="http://schemas.openxmlformats.org/officeDocument/2006/relationships/notesMaster" Target="/ppt/notesMasters/notesMaster1.xml" Id="R283c09bedc1b472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2a63d0cfca748ad" /><Relationship Type="http://schemas.openxmlformats.org/officeDocument/2006/relationships/notesMaster" Target="/ppt/notesMasters/notesMaster1.xml" Id="R1fab834a143c4ba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9d6da7cdc3440f9" /><Relationship Type="http://schemas.openxmlformats.org/officeDocument/2006/relationships/notesMaster" Target="/ppt/notesMasters/notesMaster1.xml" Id="Rea91d00b3e964d7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2ab3525ab62448b" /><Relationship Type="http://schemas.openxmlformats.org/officeDocument/2006/relationships/notesMaster" Target="/ppt/notesMasters/notesMaster1.xml" Id="R96e4ce59e23545b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b79ae684e054793" /><Relationship Type="http://schemas.openxmlformats.org/officeDocument/2006/relationships/notesMaster" Target="/ppt/notesMasters/notesMaster1.xml" Id="R179dec4a1d2747b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a9fff868384f2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bd6cd89550c4c95" /><Relationship Type="http://schemas.openxmlformats.org/officeDocument/2006/relationships/slideLayout" Target="/ppt/slideLayouts/slideLayout1.xml" Id="R6029d12d2d76474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029d12d2d76474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f1433c4ef24605" /><Relationship Type="http://schemas.openxmlformats.org/officeDocument/2006/relationships/notesSlide" Target="/ppt/notesSlides/notesSlide1.xml" Id="R49d6bc20a3cb4ca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345dc334584626" /><Relationship Type="http://schemas.openxmlformats.org/officeDocument/2006/relationships/notesSlide" Target="/ppt/notesSlides/notesSlide2.xml" Id="R34d0532b600d4f6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d6cc0dd18b4726" /><Relationship Type="http://schemas.openxmlformats.org/officeDocument/2006/relationships/notesSlide" Target="/ppt/notesSlides/notesSlide3.xml" Id="Rca07215c6785482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dbc18be767478c" /><Relationship Type="http://schemas.openxmlformats.org/officeDocument/2006/relationships/notesSlide" Target="/ppt/notesSlides/notesSlide4.xml" Id="Rc8120ef0d78244c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cf9e061e444f1c" /><Relationship Type="http://schemas.openxmlformats.org/officeDocument/2006/relationships/notesSlide" Target="/ppt/notesSlides/notesSlide5.xml" Id="R9ca5fe33c0cf480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25BAF02-FA00-4E7C-86D0-F44C72A89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14300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111111"/>
                </a:solidFill>
              </a:defRPr>
            </a:pPr>
            <a:r>
              <a:rPr sz="3750" b="1">
                <a:solidFill>
                  <a:srgbClr val="111111"/>
                </a:solidFill>
              </a:rPr>
              <a:t>Week 2: Basic Software Development Concepts</a:t>
            </a:r>
          </a:p>
        </p:txBody>
      </p:sp>
      <p:sp>
        <p:nvSpPr>
          <p:cNvPr id="2" name="flow-arrow">
            <a:extLst xmlns:a="http://schemas.openxmlformats.org/drawingml/2006/main">
              <a:ext uri="{FF2B5EF4-FFF2-40B4-BE49-F238E27FC236}">
                <a16:creationId xmlns:a16="http://schemas.microsoft.com/office/drawing/2014/main" id="{A135E269-8031-44BB-B4C7-BD1F87537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98120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11111"/>
            </a:solidFill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4AA7BC95-225E-4E35-B1CE-DD7707746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381250"/>
            <a:ext cx="876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666666"/>
                </a:solidFill>
              </a:defRPr>
            </a:pPr>
            <a:r>
              <a:rPr sz="1875" b="0">
                <a:solidFill>
                  <a:srgbClr val="666666"/>
                </a:solidFill>
              </a:rPr>
              <a:t>A beginner-friendly view of how a mutual-fund analytics application works</a:t>
            </a:r>
          </a:p>
        </p:txBody>
      </p:sp>
      <p:sp>
        <p:nvSpPr>
          <p:cNvPr id="4" name="box">
            <a:extLst xmlns:a="http://schemas.openxmlformats.org/drawingml/2006/main">
              <a:ext uri="{FF2B5EF4-FFF2-40B4-BE49-F238E27FC236}">
                <a16:creationId xmlns:a16="http://schemas.microsoft.com/office/drawing/2014/main" id="{2E1E63C0-5405-4A7C-88D9-0720DF3F9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524250"/>
            <a:ext cx="52387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USER ACTION  →  DATA  →  INSIGHTS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1E4CDAB-6FB8-4F71-B85A-E4A69B782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0482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Frontend • Backend • Data Pipeline • Power BI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86FC246-8B6C-4FFC-99CB-C800EA60D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6666"/>
                </a:solidFill>
              </a:defRPr>
            </a:pPr>
            <a:r>
              <a:rPr sz="900" b="0">
                <a:solidFill>
                  <a:srgbClr val="666666"/>
                </a:solidFill>
              </a:rPr>
              <a:t>Mutual-Fund Analytics Application  |  Basic Software Development Concepts</a:t>
            </a:r>
          </a:p>
        </p:txBody>
      </p:sp>
    </p:spTree>
    <p:extLst>
      <p:ext uri="{BB962C8B-B14F-4D97-AF65-F5344CB8AC3E}">
        <p14:creationId xmlns:p14="http://schemas.microsoft.com/office/powerpoint/2010/main" val="20155589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01992317-7D27-4484-8B8B-83787DE3F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How information moves through the application</a:t>
            </a:r>
          </a:p>
        </p:txBody>
      </p:sp>
      <p:sp>
        <p:nvSpPr>
          <p:cNvPr id="2" name="flow-arrow">
            <a:extLst xmlns:a="http://schemas.openxmlformats.org/drawingml/2006/main">
              <a:ext uri="{FF2B5EF4-FFF2-40B4-BE49-F238E27FC236}">
                <a16:creationId xmlns:a16="http://schemas.microsoft.com/office/drawing/2014/main" id="{6C50449D-7C39-4ECB-BEC0-C0B59633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906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11111"/>
            </a:solidFill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A07A0095-4562-4B43-A8F0-EA96F913A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9530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6666"/>
                </a:solidFill>
              </a:defRPr>
            </a:pPr>
            <a:r>
              <a:rPr sz="975" b="1">
                <a:solidFill>
                  <a:srgbClr val="666666"/>
                </a:solidFill>
              </a:rPr>
              <a:t>WEEK 2 | 01</a:t>
            </a:r>
          </a:p>
        </p:txBody>
      </p:sp>
      <p:sp>
        <p:nvSpPr>
          <p:cNvPr id="4" name="flow-arrow">
            <a:extLst xmlns:a="http://schemas.openxmlformats.org/drawingml/2006/main">
              <a:ext uri="{FF2B5EF4-FFF2-40B4-BE49-F238E27FC236}">
                <a16:creationId xmlns:a16="http://schemas.microsoft.com/office/drawing/2014/main" id="{EE4912A3-E439-45EB-872B-C5F9FB047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047875"/>
            <a:ext cx="1095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11111"/>
            </a:solidFill>
            <a:prstDash val="solid"/>
          </a:ln>
        </p:spPr>
      </p:sp>
      <p:sp>
        <p:nvSpPr>
          <p:cNvPr id="5" name="flow-arrow">
            <a:extLst xmlns:a="http://schemas.openxmlformats.org/drawingml/2006/main">
              <a:ext uri="{FF2B5EF4-FFF2-40B4-BE49-F238E27FC236}">
                <a16:creationId xmlns:a16="http://schemas.microsoft.com/office/drawing/2014/main" id="{4454405C-A6A9-45E0-83F0-498DEC6BF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047875"/>
            <a:ext cx="1095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11111"/>
            </a:solidFill>
            <a:prstDash val="solid"/>
          </a:ln>
        </p:spPr>
      </p:sp>
      <p:sp>
        <p:nvSpPr>
          <p:cNvPr id="6" name="flow-arrow">
            <a:extLst xmlns:a="http://schemas.openxmlformats.org/drawingml/2006/main">
              <a:ext uri="{FF2B5EF4-FFF2-40B4-BE49-F238E27FC236}">
                <a16:creationId xmlns:a16="http://schemas.microsoft.com/office/drawing/2014/main" id="{1ABB38EF-2385-41DF-9CBF-D19C5CDEE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047875"/>
            <a:ext cx="1095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11111"/>
            </a:solidFill>
            <a:prstDash val="solid"/>
          </a:ln>
        </p:spPr>
      </p:sp>
      <p:sp>
        <p:nvSpPr>
          <p:cNvPr id="7" name="flow-arrow">
            <a:extLst xmlns:a="http://schemas.openxmlformats.org/drawingml/2006/main">
              <a:ext uri="{FF2B5EF4-FFF2-40B4-BE49-F238E27FC236}">
                <a16:creationId xmlns:a16="http://schemas.microsoft.com/office/drawing/2014/main" id="{F103A80F-8FBA-4E7E-8D96-6DDA1B7E0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047875"/>
            <a:ext cx="1095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11111"/>
            </a:solidFill>
            <a:prstDash val="solid"/>
          </a:ln>
        </p:spPr>
      </p:sp>
      <p:sp>
        <p:nvSpPr>
          <p:cNvPr id="8" name="flow-arrow">
            <a:extLst xmlns:a="http://schemas.openxmlformats.org/drawingml/2006/main">
              <a:ext uri="{FF2B5EF4-FFF2-40B4-BE49-F238E27FC236}">
                <a16:creationId xmlns:a16="http://schemas.microsoft.com/office/drawing/2014/main" id="{D178C9F2-C21D-4B0A-B6EC-75A2C1D61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524125"/>
            <a:ext cx="0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11111"/>
            </a:solidFill>
            <a:prstDash val="solid"/>
          </a:ln>
        </p:spPr>
      </p:sp>
      <p:sp>
        <p:nvSpPr>
          <p:cNvPr id="9" name="flow-arrow">
            <a:extLst xmlns:a="http://schemas.openxmlformats.org/drawingml/2006/main">
              <a:ext uri="{FF2B5EF4-FFF2-40B4-BE49-F238E27FC236}">
                <a16:creationId xmlns:a16="http://schemas.microsoft.com/office/drawing/2014/main" id="{724D5388-3043-4A77-ACD8-6715AE1D9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571875"/>
            <a:ext cx="1095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11111"/>
            </a:solidFill>
            <a:prstDash val="solid"/>
          </a:ln>
        </p:spPr>
      </p:sp>
      <p:sp>
        <p:nvSpPr>
          <p:cNvPr id="10" name="flow-arrow">
            <a:extLst xmlns:a="http://schemas.openxmlformats.org/drawingml/2006/main">
              <a:ext uri="{FF2B5EF4-FFF2-40B4-BE49-F238E27FC236}">
                <a16:creationId xmlns:a16="http://schemas.microsoft.com/office/drawing/2014/main" id="{A233DA6F-2441-4ED9-9C5E-20F62C00B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571875"/>
            <a:ext cx="1095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11111"/>
            </a:solidFill>
            <a:prstDash val="solid"/>
          </a:ln>
        </p:spPr>
      </p:sp>
      <p:sp>
        <p:nvSpPr>
          <p:cNvPr id="11" name="flow-arrow">
            <a:extLst xmlns:a="http://schemas.openxmlformats.org/drawingml/2006/main">
              <a:ext uri="{FF2B5EF4-FFF2-40B4-BE49-F238E27FC236}">
                <a16:creationId xmlns:a16="http://schemas.microsoft.com/office/drawing/2014/main" id="{55A492B5-C348-438B-9AEC-CDD6357F8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571875"/>
            <a:ext cx="1095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11111"/>
            </a:solidFill>
            <a:prstDash val="solid"/>
          </a:ln>
        </p:spPr>
      </p:sp>
      <p:sp>
        <p:nvSpPr>
          <p:cNvPr id="12" name="flow-arrow">
            <a:extLst xmlns:a="http://schemas.openxmlformats.org/drawingml/2006/main">
              <a:ext uri="{FF2B5EF4-FFF2-40B4-BE49-F238E27FC236}">
                <a16:creationId xmlns:a16="http://schemas.microsoft.com/office/drawing/2014/main" id="{C8062433-586B-4AF9-9709-8966D0A5A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571875"/>
            <a:ext cx="1095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11111"/>
            </a:solidFill>
            <a:prstDash val="solid"/>
          </a:ln>
        </p:spPr>
      </p:sp>
      <p:sp>
        <p:nvSpPr>
          <p:cNvPr id="13" name="box">
            <a:extLst xmlns:a="http://schemas.openxmlformats.org/drawingml/2006/main">
              <a:ext uri="{FF2B5EF4-FFF2-40B4-BE49-F238E27FC236}">
                <a16:creationId xmlns:a16="http://schemas.microsoft.com/office/drawing/2014/main" id="{97039416-F32C-47A7-B06B-3342272DD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1257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1. User Action</a:t>
            </a:r>
          </a:p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Search or view a fund</a:t>
            </a:r>
          </a:p>
        </p:txBody>
      </p:sp>
      <p:sp>
        <p:nvSpPr>
          <p:cNvPr id="14" name="box">
            <a:extLst xmlns:a="http://schemas.openxmlformats.org/drawingml/2006/main">
              <a:ext uri="{FF2B5EF4-FFF2-40B4-BE49-F238E27FC236}">
                <a16:creationId xmlns:a16="http://schemas.microsoft.com/office/drawing/2014/main" id="{67E77C0C-A1EA-41A9-B56B-040D545FA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1571625"/>
            <a:ext cx="1257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2. Frontend</a:t>
            </a:r>
          </a:p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Web or mobile screen</a:t>
            </a:r>
          </a:p>
        </p:txBody>
      </p:sp>
      <p:sp>
        <p:nvSpPr>
          <p:cNvPr id="15" name="box">
            <a:extLst xmlns:a="http://schemas.openxmlformats.org/drawingml/2006/main">
              <a:ext uri="{FF2B5EF4-FFF2-40B4-BE49-F238E27FC236}">
                <a16:creationId xmlns:a16="http://schemas.microsoft.com/office/drawing/2014/main" id="{6F6838BF-7793-486E-B848-D6E3D6D01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571625"/>
            <a:ext cx="1257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3. Backend / REST API</a:t>
            </a:r>
          </a:p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Receives the request</a:t>
            </a:r>
          </a:p>
        </p:txBody>
      </p:sp>
      <p:sp>
        <p:nvSpPr>
          <p:cNvPr id="16" name="box">
            <a:extLst xmlns:a="http://schemas.openxmlformats.org/drawingml/2006/main">
              <a:ext uri="{FF2B5EF4-FFF2-40B4-BE49-F238E27FC236}">
                <a16:creationId xmlns:a16="http://schemas.microsoft.com/office/drawing/2014/main" id="{96ED8432-0E91-48E9-A06F-06E98CE9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1571625"/>
            <a:ext cx="1257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4. Authentication</a:t>
            </a:r>
          </a:p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Checks user access</a:t>
            </a:r>
          </a:p>
        </p:txBody>
      </p:sp>
      <p:sp>
        <p:nvSpPr>
          <p:cNvPr id="17" name="box">
            <a:extLst xmlns:a="http://schemas.openxmlformats.org/drawingml/2006/main">
              <a:ext uri="{FF2B5EF4-FFF2-40B4-BE49-F238E27FC236}">
                <a16:creationId xmlns:a16="http://schemas.microsoft.com/office/drawing/2014/main" id="{077B4898-2C0A-4036-B37C-4457EC26A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571625"/>
            <a:ext cx="1257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5. Database</a:t>
            </a:r>
          </a:p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Stores fund and user data</a:t>
            </a:r>
          </a:p>
        </p:txBody>
      </p:sp>
      <p:sp>
        <p:nvSpPr>
          <p:cNvPr id="18" name="box">
            <a:extLst xmlns:a="http://schemas.openxmlformats.org/drawingml/2006/main">
              <a:ext uri="{FF2B5EF4-FFF2-40B4-BE49-F238E27FC236}">
                <a16:creationId xmlns:a16="http://schemas.microsoft.com/office/drawing/2014/main" id="{D58838DF-A09D-4655-9C69-E8A1F325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095625"/>
            <a:ext cx="1257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6. Data Pipeline</a:t>
            </a:r>
          </a:p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Extract • Clean</a:t>
            </a:r>
          </a:p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Transform • Load</a:t>
            </a:r>
          </a:p>
        </p:txBody>
      </p:sp>
      <p:sp>
        <p:nvSpPr>
          <p:cNvPr id="19" name="box">
            <a:extLst xmlns:a="http://schemas.openxmlformats.org/drawingml/2006/main">
              <a:ext uri="{FF2B5EF4-FFF2-40B4-BE49-F238E27FC236}">
                <a16:creationId xmlns:a16="http://schemas.microsoft.com/office/drawing/2014/main" id="{02F30A46-BCBA-4B88-85F3-418960D2A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095625"/>
            <a:ext cx="1257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7. Analytics</a:t>
            </a:r>
          </a:p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Risk • Return • KPIs</a:t>
            </a:r>
          </a:p>
        </p:txBody>
      </p:sp>
      <p:sp>
        <p:nvSpPr>
          <p:cNvPr id="20" name="box">
            <a:extLst xmlns:a="http://schemas.openxmlformats.org/drawingml/2006/main">
              <a:ext uri="{FF2B5EF4-FFF2-40B4-BE49-F238E27FC236}">
                <a16:creationId xmlns:a16="http://schemas.microsoft.com/office/drawing/2014/main" id="{E25FB40E-2B23-4975-9683-DD1F58847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095625"/>
            <a:ext cx="1257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8. Power BI Dashboard</a:t>
            </a:r>
          </a:p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Charts and reports</a:t>
            </a:r>
          </a:p>
        </p:txBody>
      </p:sp>
      <p:sp>
        <p:nvSpPr>
          <p:cNvPr id="21" name="box">
            <a:extLst xmlns:a="http://schemas.openxmlformats.org/drawingml/2006/main">
              <a:ext uri="{FF2B5EF4-FFF2-40B4-BE49-F238E27FC236}">
                <a16:creationId xmlns:a16="http://schemas.microsoft.com/office/drawing/2014/main" id="{A880CE7E-81CE-43D6-B98D-DAA156EA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095625"/>
            <a:ext cx="1257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9. Decision</a:t>
            </a:r>
          </a:p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Use insights to compare funds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857F78CA-0E62-4321-BFA7-5C1EBA431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The user starts with a simple action. The system safely processes it, turns raw fund data into useful metrics, and displays the result in a Power BI dashboard.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A3AFB8F2-C0EC-4489-ACFA-3DDD68AC2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6666"/>
                </a:solidFill>
              </a:defRPr>
            </a:pPr>
            <a:r>
              <a:rPr sz="900" b="0">
                <a:solidFill>
                  <a:srgbClr val="666666"/>
                </a:solidFill>
              </a:rPr>
              <a:t>Mutual-Fund Analytics Application  |  Basic Software Development Concepts</a:t>
            </a:r>
          </a:p>
        </p:txBody>
      </p:sp>
    </p:spTree>
    <p:extLst>
      <p:ext uri="{BB962C8B-B14F-4D97-AF65-F5344CB8AC3E}">
        <p14:creationId xmlns:p14="http://schemas.microsoft.com/office/powerpoint/2010/main" val="16561111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1BC5050F-B699-476A-8340-3307BAE00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The data flow in simple steps</a:t>
            </a:r>
          </a:p>
        </p:txBody>
      </p:sp>
      <p:sp>
        <p:nvSpPr>
          <p:cNvPr id="2" name="flow-arrow">
            <a:extLst xmlns:a="http://schemas.openxmlformats.org/drawingml/2006/main">
              <a:ext uri="{FF2B5EF4-FFF2-40B4-BE49-F238E27FC236}">
                <a16:creationId xmlns:a16="http://schemas.microsoft.com/office/drawing/2014/main" id="{88E8FFA5-32C2-4A9F-A0E3-EFBEE959C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906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11111"/>
            </a:solidFill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C1C42FAD-9C2B-48E9-8AE3-083400001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9530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6666"/>
                </a:solidFill>
              </a:defRPr>
            </a:pPr>
            <a:r>
              <a:rPr sz="975" b="1">
                <a:solidFill>
                  <a:srgbClr val="666666"/>
                </a:solidFill>
              </a:rPr>
              <a:t>WEEK 2 | 02</a:t>
            </a:r>
          </a:p>
        </p:txBody>
      </p:sp>
      <p:sp>
        <p:nvSpPr>
          <p:cNvPr id="4" name="box">
            <a:extLst xmlns:a="http://schemas.openxmlformats.org/drawingml/2006/main">
              <a:ext uri="{FF2B5EF4-FFF2-40B4-BE49-F238E27FC236}">
                <a16:creationId xmlns:a16="http://schemas.microsoft.com/office/drawing/2014/main" id="{07BA8C19-8B40-4ADC-8BBD-4575FF6C5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381125"/>
            <a:ext cx="2238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1. User request</a:t>
            </a:r>
          </a:p>
        </p:txBody>
      </p:sp>
      <p:sp>
        <p:nvSpPr>
          <p:cNvPr id="5" name="flow-arrow">
            <a:extLst xmlns:a="http://schemas.openxmlformats.org/drawingml/2006/main">
              <a:ext uri="{FF2B5EF4-FFF2-40B4-BE49-F238E27FC236}">
                <a16:creationId xmlns:a16="http://schemas.microsoft.com/office/drawing/2014/main" id="{58892BFB-9FC8-4F91-87DA-5C0458743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657350"/>
            <a:ext cx="447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11111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5D71F12-FEAF-4A86-B24D-E3A542F58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428750"/>
            <a:ext cx="723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An investor searches for a mutual fund or opens a report.</a:t>
            </a:r>
          </a:p>
        </p:txBody>
      </p:sp>
      <p:sp>
        <p:nvSpPr>
          <p:cNvPr id="7" name="box">
            <a:extLst xmlns:a="http://schemas.openxmlformats.org/drawingml/2006/main">
              <a:ext uri="{FF2B5EF4-FFF2-40B4-BE49-F238E27FC236}">
                <a16:creationId xmlns:a16="http://schemas.microsoft.com/office/drawing/2014/main" id="{B27A75A5-1895-4E75-A7FD-36C3C5850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57425"/>
            <a:ext cx="2238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2. App response</a:t>
            </a:r>
          </a:p>
        </p:txBody>
      </p:sp>
      <p:sp>
        <p:nvSpPr>
          <p:cNvPr id="8" name="flow-arrow">
            <a:extLst xmlns:a="http://schemas.openxmlformats.org/drawingml/2006/main">
              <a:ext uri="{FF2B5EF4-FFF2-40B4-BE49-F238E27FC236}">
                <a16:creationId xmlns:a16="http://schemas.microsoft.com/office/drawing/2014/main" id="{492428C6-0805-44FC-855D-68A3BEA65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533650"/>
            <a:ext cx="447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11111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FA8D47E-9275-4FB7-ABDB-C97286BAA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305050"/>
            <a:ext cx="723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The frontend sends the request to the backend using a REST API.</a:t>
            </a:r>
          </a:p>
        </p:txBody>
      </p:sp>
      <p:sp>
        <p:nvSpPr>
          <p:cNvPr id="10" name="box">
            <a:extLst xmlns:a="http://schemas.openxmlformats.org/drawingml/2006/main">
              <a:ext uri="{FF2B5EF4-FFF2-40B4-BE49-F238E27FC236}">
                <a16:creationId xmlns:a16="http://schemas.microsoft.com/office/drawing/2014/main" id="{2E81AD8A-514E-4A31-A85B-3604C1586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33725"/>
            <a:ext cx="2238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3. Safe data access</a:t>
            </a:r>
          </a:p>
        </p:txBody>
      </p:sp>
      <p:sp>
        <p:nvSpPr>
          <p:cNvPr id="11" name="flow-arrow">
            <a:extLst xmlns:a="http://schemas.openxmlformats.org/drawingml/2006/main">
              <a:ext uri="{FF2B5EF4-FFF2-40B4-BE49-F238E27FC236}">
                <a16:creationId xmlns:a16="http://schemas.microsoft.com/office/drawing/2014/main" id="{E145873A-7C46-4B4E-A350-E4939A035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409950"/>
            <a:ext cx="447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11111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465DB62-B806-47F5-B02F-FE60E286F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181350"/>
            <a:ext cx="723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Authentication checks who the user is; the backend reads the required data from the database.</a:t>
            </a:r>
          </a:p>
        </p:txBody>
      </p:sp>
      <p:sp>
        <p:nvSpPr>
          <p:cNvPr id="13" name="box">
            <a:extLst xmlns:a="http://schemas.openxmlformats.org/drawingml/2006/main">
              <a:ext uri="{FF2B5EF4-FFF2-40B4-BE49-F238E27FC236}">
                <a16:creationId xmlns:a16="http://schemas.microsoft.com/office/drawing/2014/main" id="{7F3F3BE8-2E25-497E-8517-8ED86FA70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10025"/>
            <a:ext cx="2238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4. Prepare the data</a:t>
            </a:r>
          </a:p>
        </p:txBody>
      </p:sp>
      <p:sp>
        <p:nvSpPr>
          <p:cNvPr id="14" name="flow-arrow">
            <a:extLst xmlns:a="http://schemas.openxmlformats.org/drawingml/2006/main">
              <a:ext uri="{FF2B5EF4-FFF2-40B4-BE49-F238E27FC236}">
                <a16:creationId xmlns:a16="http://schemas.microsoft.com/office/drawing/2014/main" id="{0ABF412B-D06F-473E-8DB9-D8E9BA7D6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286250"/>
            <a:ext cx="447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11111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BBC6C67-440B-4A53-A954-BA256BFA9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057650"/>
            <a:ext cx="723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The pipeline extracts, cleans, transforms, and loads data so it is ready for analysis.</a:t>
            </a:r>
          </a:p>
        </p:txBody>
      </p:sp>
      <p:sp>
        <p:nvSpPr>
          <p:cNvPr id="16" name="box">
            <a:extLst xmlns:a="http://schemas.openxmlformats.org/drawingml/2006/main">
              <a:ext uri="{FF2B5EF4-FFF2-40B4-BE49-F238E27FC236}">
                <a16:creationId xmlns:a16="http://schemas.microsoft.com/office/drawing/2014/main" id="{C3A06AFB-837E-449E-8706-BB09A1132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86325"/>
            <a:ext cx="2238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5. Show insights</a:t>
            </a:r>
          </a:p>
        </p:txBody>
      </p:sp>
      <p:sp>
        <p:nvSpPr>
          <p:cNvPr id="17" name="flow-arrow">
            <a:extLst xmlns:a="http://schemas.openxmlformats.org/drawingml/2006/main">
              <a:ext uri="{FF2B5EF4-FFF2-40B4-BE49-F238E27FC236}">
                <a16:creationId xmlns:a16="http://schemas.microsoft.com/office/drawing/2014/main" id="{4FBC4719-6AF4-489F-B5B1-596A0277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162550"/>
            <a:ext cx="447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11111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6A7E9ED7-6324-4B04-8388-2887315D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933950"/>
            <a:ext cx="723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Analytics calculates risk, return, and KPIs. Power BI presents them as easy-to-read charts and tables.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3B4FC36F-7D9C-4CBB-BA68-E217DF887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531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Key idea: each layer has a specific job, making the application easier to build, test, and maintain.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04DCD424-1174-4615-8D60-83D17D8D1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6666"/>
                </a:solidFill>
              </a:defRPr>
            </a:pPr>
            <a:r>
              <a:rPr sz="900" b="0">
                <a:solidFill>
                  <a:srgbClr val="666666"/>
                </a:solidFill>
              </a:rPr>
              <a:t>Mutual-Fund Analytics Application  |  Basic Software Development Concepts</a:t>
            </a:r>
          </a:p>
        </p:txBody>
      </p:sp>
    </p:spTree>
    <p:extLst>
      <p:ext uri="{BB962C8B-B14F-4D97-AF65-F5344CB8AC3E}">
        <p14:creationId xmlns:p14="http://schemas.microsoft.com/office/powerpoint/2010/main" val="8171840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A6C694CD-D5FD-413F-9EFD-E315D65A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Key concepts to remember</a:t>
            </a:r>
          </a:p>
        </p:txBody>
      </p:sp>
      <p:sp>
        <p:nvSpPr>
          <p:cNvPr id="2" name="flow-arrow">
            <a:extLst xmlns:a="http://schemas.openxmlformats.org/drawingml/2006/main">
              <a:ext uri="{FF2B5EF4-FFF2-40B4-BE49-F238E27FC236}">
                <a16:creationId xmlns:a16="http://schemas.microsoft.com/office/drawing/2014/main" id="{AAB479F7-BB84-4A10-84A9-E59B3BE5A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906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11111"/>
            </a:solidFill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9DB48966-3C16-4787-8A07-11815261D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9530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6666"/>
                </a:solidFill>
              </a:defRPr>
            </a:pPr>
            <a:r>
              <a:rPr sz="975" b="1">
                <a:solidFill>
                  <a:srgbClr val="666666"/>
                </a:solidFill>
              </a:rPr>
              <a:t>WEEK 2 | 03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05BE2D6-1CEB-4E9B-ABB7-FC39A070B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38250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Frontend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9321ECA-69C0-4EC4-A3EA-46E177601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238250"/>
            <a:ext cx="2952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The part the user sees and clicks, such as pages, filters, and charts.</a:t>
            </a:r>
          </a:p>
        </p:txBody>
      </p:sp>
      <p:sp>
        <p:nvSpPr>
          <p:cNvPr id="6" name="flow-arrow">
            <a:extLst xmlns:a="http://schemas.openxmlformats.org/drawingml/2006/main">
              <a:ext uri="{FF2B5EF4-FFF2-40B4-BE49-F238E27FC236}">
                <a16:creationId xmlns:a16="http://schemas.microsoft.com/office/drawing/2014/main" id="{5E45E93C-21E3-4F58-A1EB-646A406BF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14525"/>
            <a:ext cx="5095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11111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2D98278-F105-4CA5-B2C2-9B9184663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09800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Backend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BFC5FB6-D5E3-4295-8146-E4A4D0F3E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09800"/>
            <a:ext cx="2952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The hidden part that applies rules, handles requests, and connects to data.</a:t>
            </a:r>
          </a:p>
        </p:txBody>
      </p:sp>
      <p:sp>
        <p:nvSpPr>
          <p:cNvPr id="9" name="flow-arrow">
            <a:extLst xmlns:a="http://schemas.openxmlformats.org/drawingml/2006/main">
              <a:ext uri="{FF2B5EF4-FFF2-40B4-BE49-F238E27FC236}">
                <a16:creationId xmlns:a16="http://schemas.microsoft.com/office/drawing/2014/main" id="{522E246F-229B-4527-BC76-F2B12E0DD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86075"/>
            <a:ext cx="5095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11111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6AFE1F5-01A2-4591-8448-47C1B41D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81350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Client-Server Architecture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A1620E0D-F415-451F-95DF-3E09384EB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81350"/>
            <a:ext cx="2952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The client (app) asks the server for data; the server processes and returns a response.</a:t>
            </a:r>
          </a:p>
        </p:txBody>
      </p:sp>
      <p:sp>
        <p:nvSpPr>
          <p:cNvPr id="12" name="flow-arrow">
            <a:extLst xmlns:a="http://schemas.openxmlformats.org/drawingml/2006/main">
              <a:ext uri="{FF2B5EF4-FFF2-40B4-BE49-F238E27FC236}">
                <a16:creationId xmlns:a16="http://schemas.microsoft.com/office/drawing/2014/main" id="{46B27025-5A98-483E-9B7F-719CCBCB2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57625"/>
            <a:ext cx="5095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11111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60ED7B0-1947-4F89-B106-18F90467A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52900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REST API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361EC8FA-44CC-4C46-A352-645DE47C8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52900"/>
            <a:ext cx="2952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A standard way for the frontend and backend to communicate using requests and responses.</a:t>
            </a:r>
          </a:p>
        </p:txBody>
      </p:sp>
      <p:sp>
        <p:nvSpPr>
          <p:cNvPr id="15" name="flow-arrow">
            <a:extLst xmlns:a="http://schemas.openxmlformats.org/drawingml/2006/main">
              <a:ext uri="{FF2B5EF4-FFF2-40B4-BE49-F238E27FC236}">
                <a16:creationId xmlns:a16="http://schemas.microsoft.com/office/drawing/2014/main" id="{B941EC5E-2AFF-46A6-BDD5-885AB6822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29175"/>
            <a:ext cx="5095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11111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BE76A17-0EF2-4684-BAB0-9C8622A9D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124450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Authentication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77395A8D-6770-449C-BBB6-C8677EB2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124450"/>
            <a:ext cx="2952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Confirms a user identity before allowing access to private information.</a:t>
            </a:r>
          </a:p>
        </p:txBody>
      </p:sp>
      <p:sp>
        <p:nvSpPr>
          <p:cNvPr id="18" name="flow-arrow">
            <a:extLst xmlns:a="http://schemas.openxmlformats.org/drawingml/2006/main">
              <a:ext uri="{FF2B5EF4-FFF2-40B4-BE49-F238E27FC236}">
                <a16:creationId xmlns:a16="http://schemas.microsoft.com/office/drawing/2014/main" id="{A5085875-6C2B-4B0F-BF3F-93DFA7108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00725"/>
            <a:ext cx="5095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11111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909176D0-C6ED-4A21-A900-967CB7112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238250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Database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304490B7-601A-40F9-94C3-B6BF15E0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238250"/>
            <a:ext cx="2952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An organized place for fund details, prices, investor details, and saved reports.</a:t>
            </a:r>
          </a:p>
        </p:txBody>
      </p:sp>
      <p:sp>
        <p:nvSpPr>
          <p:cNvPr id="21" name="flow-arrow">
            <a:extLst xmlns:a="http://schemas.openxmlformats.org/drawingml/2006/main">
              <a:ext uri="{FF2B5EF4-FFF2-40B4-BE49-F238E27FC236}">
                <a16:creationId xmlns:a16="http://schemas.microsoft.com/office/drawing/2014/main" id="{088579EB-8321-47A6-9CA7-4A4FB5006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914525"/>
            <a:ext cx="5095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11111"/>
            </a:solidFill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CD3DF783-46A3-492D-A627-2AE1442A6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09800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Data Pipeline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C30FF4A6-6E27-4604-B696-958D3C583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09800"/>
            <a:ext cx="2952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A repeatable process that moves and prepares data: Extract → Clean → Transform → Load.</a:t>
            </a:r>
          </a:p>
        </p:txBody>
      </p:sp>
      <p:sp>
        <p:nvSpPr>
          <p:cNvPr id="24" name="flow-arrow">
            <a:extLst xmlns:a="http://schemas.openxmlformats.org/drawingml/2006/main">
              <a:ext uri="{FF2B5EF4-FFF2-40B4-BE49-F238E27FC236}">
                <a16:creationId xmlns:a16="http://schemas.microsoft.com/office/drawing/2014/main" id="{F0EC121F-0706-4A99-9D24-1C979E381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886075"/>
            <a:ext cx="5095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11111"/>
            </a:solidFill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CCAE5BBC-6509-40B7-B8DC-3B1806EEA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181350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Logging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FDAF2693-0C82-4CB6-80B0-192DC9372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81350"/>
            <a:ext cx="2952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Recording important events, requests, and errors so issues can be investigated.</a:t>
            </a:r>
          </a:p>
        </p:txBody>
      </p:sp>
      <p:sp>
        <p:nvSpPr>
          <p:cNvPr id="27" name="flow-arrow">
            <a:extLst xmlns:a="http://schemas.openxmlformats.org/drawingml/2006/main">
              <a:ext uri="{FF2B5EF4-FFF2-40B4-BE49-F238E27FC236}">
                <a16:creationId xmlns:a16="http://schemas.microsoft.com/office/drawing/2014/main" id="{EC7A4B71-B1A4-4182-A7C4-14484918A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857625"/>
            <a:ext cx="5095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11111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851FA335-91DD-47C1-AEE3-0D29D3519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152900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Error Handling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38BBD1BA-F52B-420E-A441-D0C3E670B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52900"/>
            <a:ext cx="2952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Showing a useful message and handling problems safely when something goes wrong.</a:t>
            </a:r>
          </a:p>
        </p:txBody>
      </p:sp>
      <p:sp>
        <p:nvSpPr>
          <p:cNvPr id="30" name="flow-arrow">
            <a:extLst xmlns:a="http://schemas.openxmlformats.org/drawingml/2006/main">
              <a:ext uri="{FF2B5EF4-FFF2-40B4-BE49-F238E27FC236}">
                <a16:creationId xmlns:a16="http://schemas.microsoft.com/office/drawing/2014/main" id="{28B3977C-9D72-4022-A212-8C64F99F6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829175"/>
            <a:ext cx="5095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11111"/>
            </a:solidFill>
            <a:prstDash val="solid"/>
          </a:ln>
        </p:spPr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A3111AD1-FFAB-4255-AB0D-7B46758EA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5124450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SDLC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5DF67C33-9CF9-43FB-AEF7-10714C223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124450"/>
            <a:ext cx="2952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The software development life cycle: Plan → Build → Test → Deploy → Maintain.</a:t>
            </a:r>
          </a:p>
        </p:txBody>
      </p:sp>
      <p:sp>
        <p:nvSpPr>
          <p:cNvPr id="33" name="flow-arrow">
            <a:extLst xmlns:a="http://schemas.openxmlformats.org/drawingml/2006/main">
              <a:ext uri="{FF2B5EF4-FFF2-40B4-BE49-F238E27FC236}">
                <a16:creationId xmlns:a16="http://schemas.microsoft.com/office/drawing/2014/main" id="{28B21262-3728-4029-946B-73340B7A6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5800725"/>
            <a:ext cx="5095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11111"/>
            </a:solidFill>
            <a:prstDash val="solid"/>
          </a:ln>
        </p:spPr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B5527B6D-4A93-49DD-BB28-48C10AE72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6666"/>
                </a:solidFill>
              </a:defRPr>
            </a:pPr>
            <a:r>
              <a:rPr sz="900" b="0">
                <a:solidFill>
                  <a:srgbClr val="666666"/>
                </a:solidFill>
              </a:rPr>
              <a:t>Mutual-Fund Analytics Application  |  Basic Software Development Concepts</a:t>
            </a:r>
          </a:p>
        </p:txBody>
      </p:sp>
    </p:spTree>
    <p:extLst>
      <p:ext uri="{BB962C8B-B14F-4D97-AF65-F5344CB8AC3E}">
        <p14:creationId xmlns:p14="http://schemas.microsoft.com/office/powerpoint/2010/main" val="9809778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40FBF1B-2CFD-4071-9278-BC02F33A5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What this architecture achieves</a:t>
            </a:r>
          </a:p>
        </p:txBody>
      </p:sp>
      <p:sp>
        <p:nvSpPr>
          <p:cNvPr id="2" name="flow-arrow">
            <a:extLst xmlns:a="http://schemas.openxmlformats.org/drawingml/2006/main">
              <a:ext uri="{FF2B5EF4-FFF2-40B4-BE49-F238E27FC236}">
                <a16:creationId xmlns:a16="http://schemas.microsoft.com/office/drawing/2014/main" id="{5ECF5432-B53F-4B6F-8349-63902FF94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906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11111"/>
            </a:solidFill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70BA517C-81C0-47E2-BF62-C637149C8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9530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6666"/>
                </a:solidFill>
              </a:defRPr>
            </a:pPr>
            <a:r>
              <a:rPr sz="975" b="1">
                <a:solidFill>
                  <a:srgbClr val="666666"/>
                </a:solidFill>
              </a:rPr>
              <a:t>WEEK 2 | 04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C668DE8-4417-4577-9FC1-86E370ECA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571625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111111"/>
                </a:solidFill>
              </a:defRPr>
            </a:pPr>
            <a:r>
              <a:rPr sz="2475" b="1">
                <a:solidFill>
                  <a:srgbClr val="111111"/>
                </a:solidFill>
              </a:rPr>
              <a:t>A clear path from raw data to an informed investment decision</a:t>
            </a:r>
          </a:p>
        </p:txBody>
      </p:sp>
      <p:sp>
        <p:nvSpPr>
          <p:cNvPr id="5" name="box">
            <a:extLst xmlns:a="http://schemas.openxmlformats.org/drawingml/2006/main">
              <a:ext uri="{FF2B5EF4-FFF2-40B4-BE49-F238E27FC236}">
                <a16:creationId xmlns:a16="http://schemas.microsoft.com/office/drawing/2014/main" id="{6F0CAAAB-E5F2-4626-A2BE-BBFA1ED1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57500"/>
            <a:ext cx="31432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Clear roles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AEA8F94-61FC-4080-A81A-F81031D0E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71875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Each part of the application has one main responsibility.</a:t>
            </a:r>
          </a:p>
        </p:txBody>
      </p:sp>
      <p:sp>
        <p:nvSpPr>
          <p:cNvPr id="7" name="box">
            <a:extLst xmlns:a="http://schemas.openxmlformats.org/drawingml/2006/main">
              <a:ext uri="{FF2B5EF4-FFF2-40B4-BE49-F238E27FC236}">
                <a16:creationId xmlns:a16="http://schemas.microsoft.com/office/drawing/2014/main" id="{864DB2D7-BAAE-409A-AA3D-0E0BC1F4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857500"/>
            <a:ext cx="31432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Reliable insights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39B9EB3-6F2D-4A15-B83E-836900D26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71875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Clean data supports meaningful risk, return, and KPI calculations.</a:t>
            </a:r>
          </a:p>
        </p:txBody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EFCE80DC-DB69-4F43-BB13-C6E5994FE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857500"/>
            <a:ext cx="31432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Safer access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36D516C-E8AB-43FE-8219-75CE448FE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71875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Authentication and error handling help protect users and information.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D4E45B8-6D28-4686-912B-BFFCFCEE1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86375"/>
            <a:ext cx="914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This is the foundation for a mutual-fund analytics dashboard project.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FBC8DFA-8B19-4DCF-A90E-A5E686F7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6666"/>
                </a:solidFill>
              </a:defRPr>
            </a:pPr>
            <a:r>
              <a:rPr sz="900" b="0">
                <a:solidFill>
                  <a:srgbClr val="666666"/>
                </a:solidFill>
              </a:rPr>
              <a:t>Mutual-Fund Analytics Application  |  Basic Software Development Concepts</a:t>
            </a:r>
          </a:p>
        </p:txBody>
      </p:sp>
    </p:spTree>
    <p:extLst>
      <p:ext uri="{BB962C8B-B14F-4D97-AF65-F5344CB8AC3E}">
        <p14:creationId xmlns:p14="http://schemas.microsoft.com/office/powerpoint/2010/main" val="10700747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2026-08-23T17:02:14.8510000Z</dcterms:created>
  <dcterms:modified xsi:type="dcterms:W3CDTF">2026-08-23T17:02:14.8510000Z</dcterms:modified>
</coreProperties>
</file>